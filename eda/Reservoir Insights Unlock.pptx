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5" r:id="rId4"/>
  </p:sldMasterIdLst>
  <p:sldIdLst>
    <p:sldId id="308" r:id="rId5"/>
    <p:sldId id="301" r:id="rId6"/>
    <p:sldId id="302" r:id="rId7"/>
    <p:sldId id="307" r:id="rId8"/>
    <p:sldId id="317" r:id="rId9"/>
    <p:sldId id="311" r:id="rId10"/>
    <p:sldId id="310" r:id="rId11"/>
    <p:sldId id="315" r:id="rId12"/>
    <p:sldId id="314" r:id="rId13"/>
    <p:sldId id="304" r:id="rId14"/>
    <p:sldId id="306" r:id="rId15"/>
    <p:sldId id="31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19" autoAdjust="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272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712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0215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869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395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612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348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685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7D986-8816-4272-A432-0437A28A9828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386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6E202-B606-4609-B914-27C9371A1F6D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38636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6E202-B606-4609-B914-27C9371A1F6D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32695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17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EB1836F0-F9E0-4D93-9BDD-7EEC6EA05F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BBC36-B378-A763-1417-06D1BE06F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9754" y="639097"/>
            <a:ext cx="6253317" cy="3686015"/>
          </a:xfrm>
        </p:spPr>
        <p:txBody>
          <a:bodyPr>
            <a:normAutofit/>
          </a:bodyPr>
          <a:lstStyle/>
          <a:p>
            <a:r>
              <a:rPr lang="en-AU" dirty="0"/>
              <a:t>Reservoir Health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CB2F6B-C4BB-DF76-8A72-ABBCCC4900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455621"/>
            <a:ext cx="6269347" cy="1238616"/>
          </a:xfrm>
        </p:spPr>
        <p:txBody>
          <a:bodyPr>
            <a:normAutofit/>
          </a:bodyPr>
          <a:lstStyle/>
          <a:p>
            <a:r>
              <a:rPr lang="en-AU">
                <a:solidFill>
                  <a:schemeClr val="tx1">
                    <a:lumMod val="85000"/>
                    <a:lumOff val="15000"/>
                  </a:schemeClr>
                </a:solidFill>
              </a:rPr>
              <a:t>Paul Yacobellis, Data Scientist</a:t>
            </a:r>
          </a:p>
        </p:txBody>
      </p:sp>
      <p:pic>
        <p:nvPicPr>
          <p:cNvPr id="1026" name="Picture 2" descr="NSW catchments - The Australian Museum">
            <a:extLst>
              <a:ext uri="{FF2B5EF4-FFF2-40B4-BE49-F238E27FC236}">
                <a16:creationId xmlns:a16="http://schemas.microsoft.com/office/drawing/2014/main" id="{5B3246A8-0EE9-8ED4-F19F-7DE4EFDDC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3999" y="1513644"/>
            <a:ext cx="4001315" cy="3301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7A49EFD3-A806-4D59-99F1-AA9AFAE4EF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6D2F28D1-82F9-40FE-935C-85ECF7660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4B670E93-2F53-48FC-AB6C-E99E22D17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2925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8303-05D2-CAE3-25A8-8C60D0DDA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6987D-7328-88EF-4CD5-405E99326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AU" dirty="0"/>
              <a:t>Objective – What Are We Trying to Achieve?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Data Analysis Approach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Results and Key Insights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Data Science Skills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Use of AI</a:t>
            </a:r>
          </a:p>
        </p:txBody>
      </p:sp>
    </p:spTree>
    <p:extLst>
      <p:ext uri="{BB962C8B-B14F-4D97-AF65-F5344CB8AC3E}">
        <p14:creationId xmlns:p14="http://schemas.microsoft.com/office/powerpoint/2010/main" val="1799301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34FF1-B62F-1C11-42F5-E465252A9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B51BF-80EA-3E2D-A053-DA52673ED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b="1" u="sng" dirty="0"/>
              <a:t>What Are We Trying to Achieve</a:t>
            </a:r>
            <a:r>
              <a:rPr lang="en-AU" dirty="0"/>
              <a:t>?</a:t>
            </a:r>
          </a:p>
          <a:p>
            <a:pPr marL="0" indent="0">
              <a:buNone/>
            </a:pPr>
            <a:r>
              <a:rPr lang="en-AU" dirty="0"/>
              <a:t>a) enhance understanding of drinking reservoir conditions</a:t>
            </a:r>
          </a:p>
          <a:p>
            <a:pPr marL="0" indent="0">
              <a:buNone/>
            </a:pPr>
            <a:r>
              <a:rPr lang="en-AU" dirty="0"/>
              <a:t>b) generate actionable insights from data that drive impact and value for Water NSW</a:t>
            </a:r>
          </a:p>
          <a:p>
            <a:pPr marL="0" indent="0">
              <a:buNone/>
            </a:pPr>
            <a:r>
              <a:rPr lang="en-AU" dirty="0"/>
              <a:t>c) to assist water modellers, engineers, and operators to make better decisions</a:t>
            </a:r>
          </a:p>
        </p:txBody>
      </p:sp>
    </p:spTree>
    <p:extLst>
      <p:ext uri="{BB962C8B-B14F-4D97-AF65-F5344CB8AC3E}">
        <p14:creationId xmlns:p14="http://schemas.microsoft.com/office/powerpoint/2010/main" val="3755875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D325B-E3AE-1AE5-D25A-2D9B67ABA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E910-FB90-EB46-27DF-25337A1DF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Analysis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45E8F-DC00-84AF-0836-2FF57E18D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AU" dirty="0"/>
              <a:t>Clarified requirements of stakeholders and business</a:t>
            </a:r>
          </a:p>
          <a:p>
            <a:pPr lvl="1"/>
            <a:r>
              <a:rPr lang="en-AU" dirty="0"/>
              <a:t>Decided on right tools for the job</a:t>
            </a:r>
          </a:p>
          <a:p>
            <a:pPr lvl="1"/>
            <a:r>
              <a:rPr lang="en-AU" dirty="0"/>
              <a:t>Performed exploratory data analysis to understand data quality and real-world behaviour</a:t>
            </a:r>
          </a:p>
          <a:p>
            <a:pPr lvl="1"/>
            <a:r>
              <a:rPr lang="en-AU" dirty="0"/>
              <a:t>Analysed temporal patterns, lag effects</a:t>
            </a:r>
          </a:p>
          <a:p>
            <a:pPr lvl="1"/>
            <a:r>
              <a:rPr lang="en-AU" dirty="0"/>
              <a:t>Validated findings with simple statistical techniques</a:t>
            </a:r>
          </a:p>
          <a:p>
            <a:pPr lvl="1"/>
            <a:r>
              <a:rPr lang="en-AU" dirty="0"/>
              <a:t>Sensed check interpretations with former </a:t>
            </a:r>
            <a:r>
              <a:rPr lang="en-AU" dirty="0" err="1"/>
              <a:t>colleages</a:t>
            </a:r>
            <a:r>
              <a:rPr lang="en-AU" dirty="0"/>
              <a:t>:  flood modeller and water economist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33099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3E6BD-8AC8-B1EB-1EEC-90744D3A0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C148-6CC0-0A4F-E4E3-E54238CC7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Analysis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4741A-CB82-C027-C664-BFBD20A77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AU" dirty="0"/>
              <a:t>Daily WQ reading counts</a:t>
            </a:r>
          </a:p>
          <a:p>
            <a:pPr lvl="2"/>
            <a:r>
              <a:rPr lang="en-AU" dirty="0"/>
              <a:t>Drop in sensor counts on same days</a:t>
            </a:r>
          </a:p>
          <a:p>
            <a:pPr lvl="2"/>
            <a:endParaRPr lang="en-AU" dirty="0"/>
          </a:p>
          <a:p>
            <a:pPr lvl="2"/>
            <a:r>
              <a:rPr lang="en-AU" dirty="0"/>
              <a:t>Dates line up with peak rain events</a:t>
            </a:r>
          </a:p>
          <a:p>
            <a:pPr lvl="2"/>
            <a:endParaRPr lang="en-AU" dirty="0"/>
          </a:p>
          <a:p>
            <a:pPr lvl="2"/>
            <a:r>
              <a:rPr lang="en-AU" dirty="0"/>
              <a:t>True WQ values biased downward</a:t>
            </a:r>
          </a:p>
          <a:p>
            <a:pPr lvl="2"/>
            <a:endParaRPr lang="en-AU" dirty="0"/>
          </a:p>
          <a:p>
            <a:pPr lvl="2"/>
            <a:r>
              <a:rPr lang="en-AU" dirty="0"/>
              <a:t>Missing Water Temp won’t have material impact</a:t>
            </a:r>
          </a:p>
          <a:p>
            <a:pPr lvl="2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BD9658-210B-3292-B285-D816689C0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878" y="2024420"/>
            <a:ext cx="7130122" cy="3844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619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7EB08-25B8-619E-0FD7-F588806C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4B5EB-17D6-FC70-66CA-BE1BD216B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82391-8801-55F9-3A5E-0028F4D62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endParaRPr lang="en-AU" dirty="0"/>
          </a:p>
          <a:p>
            <a:pPr lvl="1"/>
            <a:r>
              <a:rPr lang="en-AU" dirty="0"/>
              <a:t>Bias detection</a:t>
            </a:r>
          </a:p>
          <a:p>
            <a:pPr lvl="2"/>
            <a:r>
              <a:rPr lang="en-AU" dirty="0"/>
              <a:t>surface temp rolling average</a:t>
            </a:r>
          </a:p>
          <a:p>
            <a:pPr lvl="1"/>
            <a:endParaRPr lang="en-AU" dirty="0"/>
          </a:p>
          <a:p>
            <a:pPr marL="201168" lvl="1" indent="0">
              <a:buNone/>
            </a:pPr>
            <a:endParaRPr lang="en-AU" dirty="0"/>
          </a:p>
          <a:p>
            <a:pPr lvl="1"/>
            <a:endParaRPr lang="en-AU" dirty="0"/>
          </a:p>
          <a:p>
            <a:pPr lvl="1"/>
            <a:r>
              <a:rPr lang="en-AU" dirty="0"/>
              <a:t>Box Plot analysis</a:t>
            </a:r>
          </a:p>
          <a:p>
            <a:pPr lvl="2"/>
            <a:r>
              <a:rPr lang="en-AU" dirty="0"/>
              <a:t>skewness, outlier detection</a:t>
            </a:r>
          </a:p>
          <a:p>
            <a:pPr lvl="1"/>
            <a:endParaRPr lang="en-AU" dirty="0"/>
          </a:p>
          <a:p>
            <a:pPr marL="201168" lvl="1" indent="0">
              <a:buNone/>
            </a:pPr>
            <a:endParaRPr lang="en-AU" dirty="0"/>
          </a:p>
          <a:p>
            <a:pPr lvl="1"/>
            <a:endParaRPr lang="en-AU" dirty="0"/>
          </a:p>
          <a:p>
            <a:pPr lvl="1"/>
            <a:r>
              <a:rPr lang="en-AU" dirty="0"/>
              <a:t>Outlier analysis</a:t>
            </a:r>
          </a:p>
          <a:p>
            <a:pPr lvl="2"/>
            <a:r>
              <a:rPr lang="en-AU" dirty="0"/>
              <a:t>Turbidity time series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47A66C-49E9-0D6C-4764-64DC04566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113" y="1845734"/>
            <a:ext cx="7410916" cy="4297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501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465D0-2C46-D40A-3F07-BA83AFEFA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8730B-9097-0028-EF31-FD3DCD29C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A7296-454F-5231-CEB8-C8099D6F9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AU" dirty="0"/>
              <a:t>DO and Water Temp constant</a:t>
            </a:r>
          </a:p>
          <a:p>
            <a:pPr lvl="2"/>
            <a:r>
              <a:rPr lang="en-AU" dirty="0"/>
              <a:t>But different story at depth</a:t>
            </a:r>
          </a:p>
          <a:p>
            <a:pPr lvl="2"/>
            <a:endParaRPr lang="en-AU" dirty="0"/>
          </a:p>
          <a:p>
            <a:pPr lvl="2"/>
            <a:endParaRPr lang="en-AU" dirty="0"/>
          </a:p>
          <a:p>
            <a:pPr lvl="1"/>
            <a:r>
              <a:rPr lang="en-AU" dirty="0"/>
              <a:t>Evapotranspiration</a:t>
            </a:r>
          </a:p>
          <a:p>
            <a:pPr lvl="2"/>
            <a:r>
              <a:rPr lang="en-AU" dirty="0"/>
              <a:t>normal seasonal decline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r>
              <a:rPr lang="en-AU" dirty="0"/>
              <a:t>Lag effect from rainfall -&gt; turbidity</a:t>
            </a:r>
          </a:p>
          <a:p>
            <a:endParaRPr lang="en-AU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603B15-F5DF-CA89-1763-B66C1D8E9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303" y="1963019"/>
            <a:ext cx="6994492" cy="364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890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F805E-307B-20B6-1B9A-C5E9E3E7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9E7AB-81E2-388E-E5B7-F2BB26BE7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Analysis – Rainfall &amp; Turbidity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54B1E-964B-9397-3C9F-8DAA90CAE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AU" dirty="0"/>
          </a:p>
          <a:p>
            <a:pPr lvl="1"/>
            <a:r>
              <a:rPr lang="en-AU" dirty="0"/>
              <a:t>Cross Correlation</a:t>
            </a:r>
          </a:p>
          <a:p>
            <a:pPr lvl="2"/>
            <a:r>
              <a:rPr lang="en-AU" dirty="0"/>
              <a:t>Statistically Significant</a:t>
            </a:r>
          </a:p>
          <a:p>
            <a:pPr lvl="2"/>
            <a:r>
              <a:rPr lang="en-AU" dirty="0"/>
              <a:t>Positive </a:t>
            </a:r>
          </a:p>
          <a:p>
            <a:pPr lvl="2"/>
            <a:r>
              <a:rPr lang="en-AU" dirty="0"/>
              <a:t>Lags 7 – 14 after rainfall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608518-DDAF-503B-C0F0-E156EB8DD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529" y="2157637"/>
            <a:ext cx="7266038" cy="37114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797085-E311-546C-FCD8-F38FE79DDD7B}"/>
              </a:ext>
            </a:extLst>
          </p:cNvPr>
          <p:cNvSpPr txBox="1"/>
          <p:nvPr/>
        </p:nvSpPr>
        <p:spPr>
          <a:xfrm>
            <a:off x="6096000" y="1972971"/>
            <a:ext cx="3680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Rainfall – Turbidity Cross Correlation</a:t>
            </a:r>
          </a:p>
        </p:txBody>
      </p:sp>
    </p:spTree>
    <p:extLst>
      <p:ext uri="{BB962C8B-B14F-4D97-AF65-F5344CB8AC3E}">
        <p14:creationId xmlns:p14="http://schemas.microsoft.com/office/powerpoint/2010/main" val="3088937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18E9B-8EEF-1FA3-C43F-47917D98B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5651B-CF8D-8D89-6F1C-10E8A4A97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Analysis -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8DC82-E2D8-71EE-F0BE-1D2B53D1F2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AU" dirty="0"/>
              <a:t>DO</a:t>
            </a:r>
          </a:p>
          <a:p>
            <a:pPr lvl="2"/>
            <a:r>
              <a:rPr lang="en-AU" dirty="0"/>
              <a:t>stable at surface (lower risk of Algal Blooms)</a:t>
            </a:r>
          </a:p>
          <a:p>
            <a:pPr lvl="2"/>
            <a:r>
              <a:rPr lang="en-AU" dirty="0"/>
              <a:t>drop at deep water puzzling – sense check with hydrologist</a:t>
            </a:r>
          </a:p>
          <a:p>
            <a:pPr lvl="1"/>
            <a:endParaRPr lang="en-AU" dirty="0"/>
          </a:p>
          <a:p>
            <a:pPr marL="201168" lvl="1" indent="0">
              <a:buNone/>
            </a:pPr>
            <a:endParaRPr lang="en-AU" dirty="0"/>
          </a:p>
          <a:p>
            <a:pPr lvl="1"/>
            <a:r>
              <a:rPr lang="en-AU" dirty="0"/>
              <a:t>Turbidity </a:t>
            </a:r>
          </a:p>
          <a:p>
            <a:pPr lvl="2"/>
            <a:r>
              <a:rPr lang="en-AU" dirty="0"/>
              <a:t>spikes consistent with rainfall lag story</a:t>
            </a:r>
          </a:p>
          <a:p>
            <a:pPr lvl="2"/>
            <a:endParaRPr lang="en-AU" dirty="0"/>
          </a:p>
          <a:p>
            <a:pPr lvl="2"/>
            <a:endParaRPr lang="en-AU" dirty="0"/>
          </a:p>
          <a:p>
            <a:pPr lvl="2"/>
            <a:endParaRPr lang="en-AU" dirty="0"/>
          </a:p>
          <a:p>
            <a:pPr lvl="1"/>
            <a:r>
              <a:rPr lang="en-AU" dirty="0"/>
              <a:t>Water Temp</a:t>
            </a:r>
          </a:p>
          <a:p>
            <a:pPr lvl="2"/>
            <a:r>
              <a:rPr lang="en-AU" dirty="0"/>
              <a:t>spike at middle depth – requires further investigation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6B5DF5-C787-49B8-8A17-F4C6731C7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23611"/>
            <a:ext cx="5432912" cy="415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140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91DAD-C8E7-B8C9-2526-661A2CDE2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Results , Key Insights,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2F3AF-D591-1C5F-0C9A-D5D285268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1. Rainfall → turbidity is delayed</a:t>
            </a:r>
          </a:p>
          <a:p>
            <a:pPr lvl="1"/>
            <a:r>
              <a:rPr lang="en-AU" dirty="0"/>
              <a:t>creates opportunity to mitigate risk</a:t>
            </a:r>
          </a:p>
          <a:p>
            <a:r>
              <a:rPr lang="en-AU" dirty="0"/>
              <a:t>2. Spikes in turbidity are event-driven</a:t>
            </a:r>
          </a:p>
          <a:p>
            <a:pPr lvl="1"/>
            <a:r>
              <a:rPr lang="en-AU" dirty="0"/>
              <a:t>driven by rainfall, not randomness 	</a:t>
            </a:r>
          </a:p>
          <a:p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7814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E84AC-EA31-3798-1C54-F09728F68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Future Data Science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0A790-2252-00E4-44BA-ED6805DE6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AU" dirty="0"/>
              <a:t>1.  More data</a:t>
            </a:r>
          </a:p>
          <a:p>
            <a:pPr lvl="1"/>
            <a:r>
              <a:rPr lang="en-AU" dirty="0"/>
              <a:t>other reservoir same time</a:t>
            </a:r>
          </a:p>
          <a:p>
            <a:pPr lvl="1"/>
            <a:r>
              <a:rPr lang="en-AU" dirty="0"/>
              <a:t> same reservoir, different time</a:t>
            </a:r>
          </a:p>
          <a:p>
            <a:pPr lvl="1"/>
            <a:r>
              <a:rPr lang="en-AU" dirty="0"/>
              <a:t>longer time horizon</a:t>
            </a:r>
          </a:p>
          <a:p>
            <a:pPr lvl="1"/>
            <a:endParaRPr lang="en-AU" dirty="0"/>
          </a:p>
          <a:p>
            <a:r>
              <a:rPr lang="en-AU" dirty="0"/>
              <a:t>2. ARIMAX forecast of turbidity (use rainfall as input to model)</a:t>
            </a:r>
          </a:p>
          <a:p>
            <a:pPr lvl="1"/>
            <a:r>
              <a:rPr lang="en-AU" dirty="0"/>
              <a:t>only if more data available</a:t>
            </a:r>
          </a:p>
          <a:p>
            <a:pPr lvl="1"/>
            <a:endParaRPr lang="en-AU" dirty="0"/>
          </a:p>
          <a:p>
            <a:r>
              <a:rPr lang="en-AU" dirty="0"/>
              <a:t>3. Productionised code</a:t>
            </a:r>
          </a:p>
          <a:p>
            <a:pPr lvl="1"/>
            <a:r>
              <a:rPr lang="en-AU" dirty="0"/>
              <a:t>automation of peak rain alerts</a:t>
            </a:r>
          </a:p>
          <a:p>
            <a:pPr lvl="1"/>
            <a:r>
              <a:rPr lang="en-AU" dirty="0"/>
              <a:t>CI / CD integration</a:t>
            </a:r>
          </a:p>
          <a:p>
            <a:pPr lvl="1"/>
            <a:r>
              <a:rPr lang="en-AU" dirty="0"/>
              <a:t>Streamlit application for analysis of other reservoirs</a:t>
            </a:r>
          </a:p>
          <a:p>
            <a:pPr lvl="1"/>
            <a:endParaRPr lang="en-AU" dirty="0"/>
          </a:p>
          <a:p>
            <a:r>
              <a:rPr lang="en-AU" dirty="0"/>
              <a:t>4. Spatial modelling – examine upstream catchment profiles</a:t>
            </a:r>
          </a:p>
          <a:p>
            <a:pPr lvl="1"/>
            <a:r>
              <a:rPr lang="en-AU" dirty="0"/>
              <a:t>land use analysis to isolate higher nutrient loading source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marL="201168" lvl="1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77340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19ADC-28D5-4587-2FFD-11178DF3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FC04E-0936-ACDD-EB9D-0F89A11BF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Use of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9B0F9-45F0-FABB-A4CF-66BFF6AF8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1. Used in this study to generate some boiler plate code</a:t>
            </a:r>
          </a:p>
          <a:p>
            <a:r>
              <a:rPr lang="en-AU" dirty="0"/>
              <a:t>2. Middleman of sense checking:</a:t>
            </a:r>
          </a:p>
          <a:p>
            <a:pPr lvl="1"/>
            <a:r>
              <a:rPr lang="en-AU" dirty="0"/>
              <a:t>get results -&gt; consider hypothesis -&gt; </a:t>
            </a:r>
          </a:p>
          <a:p>
            <a:r>
              <a:rPr lang="en-AU" dirty="0"/>
              <a:t>3. Uncertainty Threshold</a:t>
            </a:r>
          </a:p>
          <a:p>
            <a:pPr lvl="1"/>
            <a:r>
              <a:rPr lang="en-AU" dirty="0"/>
              <a:t>if AI generates a lot of code / content and I feel uncertain about it, it’s a signal to reframe</a:t>
            </a:r>
          </a:p>
          <a:p>
            <a:pPr lvl="1"/>
            <a:r>
              <a:rPr lang="en-AU" dirty="0"/>
              <a:t>after exploring, decided against unrestrained, agentic buildout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718730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Tw Cen MT">
      <a:majorFont>
        <a:latin typeface="Tw Cen MT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AA3F7EDC-E5B4-4BBC-9D2A-CBE6D46C37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957789-34B8-480C-AF9B-3EB54B9E5C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03EEFF0-FB57-4CB4-8BFC-DF397689E2E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1623</TotalTime>
  <Words>439</Words>
  <Application>Microsoft Office PowerPoint</Application>
  <PresentationFormat>Widescreen</PresentationFormat>
  <Paragraphs>109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Calibri</vt:lpstr>
      <vt:lpstr>Tw Cen MT</vt:lpstr>
      <vt:lpstr>Retrospect</vt:lpstr>
      <vt:lpstr>Reservoir Health Analysis</vt:lpstr>
      <vt:lpstr>Today</vt:lpstr>
      <vt:lpstr>Objective</vt:lpstr>
      <vt:lpstr>Data Analysis Approach </vt:lpstr>
      <vt:lpstr>Data Analysis Approach </vt:lpstr>
      <vt:lpstr>Data Analysis</vt:lpstr>
      <vt:lpstr>Data Analysis</vt:lpstr>
      <vt:lpstr>Data Analysis – Rainfall &amp; Turbidity</vt:lpstr>
      <vt:lpstr>Data Analysis - Depth</vt:lpstr>
      <vt:lpstr>Results , Key Insights, Recommendations</vt:lpstr>
      <vt:lpstr>Future Data Science Applications</vt:lpstr>
      <vt:lpstr>Use of 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Yacobellis</dc:creator>
  <cp:lastModifiedBy>Paul Yacobellis</cp:lastModifiedBy>
  <cp:revision>5</cp:revision>
  <dcterms:created xsi:type="dcterms:W3CDTF">2026-01-30T20:03:33Z</dcterms:created>
  <dcterms:modified xsi:type="dcterms:W3CDTF">2026-02-03T00:46:27Z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