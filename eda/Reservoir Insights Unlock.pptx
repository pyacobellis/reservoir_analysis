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1" r:id="rId6"/>
    <p:sldId id="302" r:id="rId7"/>
    <p:sldId id="303" r:id="rId8"/>
    <p:sldId id="307" r:id="rId9"/>
    <p:sldId id="304" r:id="rId10"/>
    <p:sldId id="305" r:id="rId11"/>
    <p:sldId id="30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Reservoir Insights Unlock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 err="1"/>
              <a:t>paul</a:t>
            </a:r>
            <a:r>
              <a:rPr lang="en-US" sz="1600" dirty="0"/>
              <a:t> </a:t>
            </a:r>
            <a:r>
              <a:rPr lang="en-US" sz="1600" dirty="0" err="1"/>
              <a:t>yacobellis</a:t>
            </a:r>
            <a:endParaRPr lang="en-US" sz="1600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28303-05D2-CAE3-25A8-8C60D0DDA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6987D-7328-88EF-4CD5-405E99326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dirty="0"/>
              <a:t>Objective – What Are We Trying to Achieve?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Data Analysis Approach</a:t>
            </a:r>
          </a:p>
          <a:p>
            <a:pPr marL="749808" lvl="1" indent="-457200">
              <a:buFont typeface="+mj-lt"/>
              <a:buAutoNum type="alphaLcParenR"/>
            </a:pPr>
            <a:r>
              <a:rPr lang="en-AU" dirty="0"/>
              <a:t>Stakeholder Engagement</a:t>
            </a:r>
          </a:p>
          <a:p>
            <a:pPr marL="749808" lvl="1" indent="-457200">
              <a:buFont typeface="+mj-lt"/>
              <a:buAutoNum type="alphaLcParenR"/>
            </a:pPr>
            <a:r>
              <a:rPr lang="en-AU" dirty="0"/>
              <a:t>Exploratory Data Analysis</a:t>
            </a:r>
          </a:p>
          <a:p>
            <a:pPr marL="749808" lvl="1" indent="-457200">
              <a:buFont typeface="+mj-lt"/>
              <a:buAutoNum type="alphaLcParenR"/>
            </a:pPr>
            <a:r>
              <a:rPr lang="en-AU" dirty="0"/>
              <a:t>Statistical / Predictive Modelling (w recommendations)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Results and Key Insights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Data Science Skills</a:t>
            </a:r>
          </a:p>
          <a:p>
            <a:pPr marL="635508" lvl="1" indent="-342900">
              <a:buFont typeface="+mj-lt"/>
              <a:buAutoNum type="alphaLcParenR"/>
            </a:pPr>
            <a:r>
              <a:rPr lang="en-AU" dirty="0"/>
              <a:t>Enhancement of Understanding</a:t>
            </a:r>
          </a:p>
          <a:p>
            <a:pPr marL="635508" lvl="1" indent="-342900">
              <a:buFont typeface="+mj-lt"/>
              <a:buAutoNum type="alphaLcParenR"/>
            </a:pPr>
            <a:r>
              <a:rPr lang="en-AU" dirty="0"/>
              <a:t>Predictive Modelling</a:t>
            </a:r>
          </a:p>
          <a:p>
            <a:pPr marL="635508" lvl="1" indent="-342900">
              <a:buFont typeface="+mj-lt"/>
              <a:buAutoNum type="alphaLcParenR"/>
            </a:pPr>
            <a:r>
              <a:rPr lang="en-AU" dirty="0"/>
              <a:t>Visualisations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Use of AI</a:t>
            </a:r>
          </a:p>
        </p:txBody>
      </p:sp>
    </p:spTree>
    <p:extLst>
      <p:ext uri="{BB962C8B-B14F-4D97-AF65-F5344CB8AC3E}">
        <p14:creationId xmlns:p14="http://schemas.microsoft.com/office/powerpoint/2010/main" val="1799301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34FF1-B62F-1C11-42F5-E465252A9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1.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B51BF-80EA-3E2D-A053-DA52673ED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What Are We Trying to Achieve?</a:t>
            </a:r>
          </a:p>
          <a:p>
            <a:r>
              <a:rPr lang="en-AU" dirty="0"/>
              <a:t>a) Enhance Understanding of Conditions of Reservoir</a:t>
            </a:r>
          </a:p>
          <a:p>
            <a:r>
              <a:rPr lang="en-AU" dirty="0"/>
              <a:t>b) To assist Water Modellers, Engineers, and Operations to make better decisions</a:t>
            </a:r>
          </a:p>
        </p:txBody>
      </p:sp>
    </p:spTree>
    <p:extLst>
      <p:ext uri="{BB962C8B-B14F-4D97-AF65-F5344CB8AC3E}">
        <p14:creationId xmlns:p14="http://schemas.microsoft.com/office/powerpoint/2010/main" val="3755875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54082-C28C-C91A-483D-7C73BA76C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2. Data Analysis Approach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C3A54-BDD2-ABE8-CC6C-50A99A3AD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lphaLcParenR"/>
            </a:pPr>
            <a:r>
              <a:rPr lang="en-AU" b="1" u="sng" dirty="0"/>
              <a:t>Discovery</a:t>
            </a:r>
          </a:p>
          <a:p>
            <a:pPr marL="749808" lvl="1" indent="-457200"/>
            <a:r>
              <a:rPr lang="en-AU" dirty="0"/>
              <a:t>Define Requirements</a:t>
            </a:r>
          </a:p>
          <a:p>
            <a:pPr marL="932688" lvl="2" indent="-457200"/>
            <a:r>
              <a:rPr lang="en-AU" dirty="0"/>
              <a:t>Enhance understanding of conditions in drinking water reservoir</a:t>
            </a:r>
          </a:p>
          <a:p>
            <a:pPr marL="749808" lvl="1" indent="-457200"/>
            <a:r>
              <a:rPr lang="en-AU" dirty="0"/>
              <a:t>Define Data Dictionary </a:t>
            </a:r>
          </a:p>
          <a:p>
            <a:pPr marL="749808" lvl="1" indent="-457200"/>
            <a:endParaRPr lang="en-AU" dirty="0"/>
          </a:p>
          <a:p>
            <a:pPr marL="457200" indent="-457200">
              <a:buFont typeface="+mj-lt"/>
              <a:buAutoNum type="alphaLcParenR"/>
            </a:pPr>
            <a:r>
              <a:rPr lang="en-AU" b="1" u="sng" dirty="0"/>
              <a:t>Stakeholder Engagement </a:t>
            </a:r>
            <a:r>
              <a:rPr lang="en-AU" dirty="0"/>
              <a:t>- What Actionable Insights Would Drive Value?</a:t>
            </a:r>
          </a:p>
          <a:p>
            <a:pPr lvl="1"/>
            <a:r>
              <a:rPr lang="en-AU" dirty="0"/>
              <a:t>David Tetley – Flood Modeller – Catchment Simulations Solutions</a:t>
            </a:r>
          </a:p>
          <a:p>
            <a:pPr lvl="1"/>
            <a:r>
              <a:rPr lang="en-AU" dirty="0"/>
              <a:t>Greg Siedel – Hydrologic Engineer – Balmoral Group</a:t>
            </a:r>
          </a:p>
          <a:p>
            <a:pPr marL="457200" indent="-457200">
              <a:buFont typeface="+mj-lt"/>
              <a:buAutoNum type="alphaLcParenR"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64380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D325B-E3AE-1AE5-D25A-2D9B67ABA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2E910-FB90-EB46-27DF-25337A1DF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2. Data Analysis Approach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45E8F-DC00-84AF-0836-2FF57E18D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Exploratory Data Analysis – Global</a:t>
            </a:r>
          </a:p>
          <a:p>
            <a:r>
              <a:rPr lang="en-AU" dirty="0"/>
              <a:t>Descriptive Statistics</a:t>
            </a:r>
          </a:p>
          <a:p>
            <a:endParaRPr lang="en-AU" dirty="0"/>
          </a:p>
          <a:p>
            <a:r>
              <a:rPr lang="en-AU" dirty="0"/>
              <a:t>Bias Detection</a:t>
            </a:r>
          </a:p>
          <a:p>
            <a:pPr lvl="1"/>
            <a:r>
              <a:rPr lang="en-AU" dirty="0"/>
              <a:t>rolling mean check</a:t>
            </a:r>
          </a:p>
          <a:p>
            <a:pPr lvl="1"/>
            <a:r>
              <a:rPr lang="en-AU" dirty="0"/>
              <a:t>consistent decline of water temperature over time</a:t>
            </a:r>
          </a:p>
          <a:p>
            <a:pPr lvl="1"/>
            <a:r>
              <a:rPr lang="en-AU" dirty="0"/>
              <a:t>no apparent structural / stepwise gaps in data = good sign</a:t>
            </a:r>
          </a:p>
          <a:p>
            <a:pPr lvl="1"/>
            <a:r>
              <a:rPr lang="en-AU" dirty="0"/>
              <a:t>consider more rigorous checks in formal study:</a:t>
            </a:r>
          </a:p>
          <a:p>
            <a:r>
              <a:rPr lang="en-AU" dirty="0"/>
              <a:t>Missing Value Detection</a:t>
            </a:r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33099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91DAD-C8E7-B8C9-2526-661A2CDE2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3. Results and 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2F3AF-D591-1C5F-0C9A-D5D285268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1. Rainfall -&gt; Torpidity Lag</a:t>
            </a:r>
          </a:p>
        </p:txBody>
      </p:sp>
    </p:spTree>
    <p:extLst>
      <p:ext uri="{BB962C8B-B14F-4D97-AF65-F5344CB8AC3E}">
        <p14:creationId xmlns:p14="http://schemas.microsoft.com/office/powerpoint/2010/main" val="407814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9AFCA-54C0-AAD7-B84F-96903B884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4. Data Science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84976-59E1-1DDE-B5DB-9B3F9F775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270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84AC-EA31-3798-1C54-F09728F68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5.  Use of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0A790-2252-00E4-44BA-ED6805DE6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1. Discovery – column, variable definitions (Co-Pilot)</a:t>
            </a:r>
          </a:p>
        </p:txBody>
      </p:sp>
    </p:spTree>
    <p:extLst>
      <p:ext uri="{BB962C8B-B14F-4D97-AF65-F5344CB8AC3E}">
        <p14:creationId xmlns:p14="http://schemas.microsoft.com/office/powerpoint/2010/main" val="137734001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{8E3441FA-1CCE-43E7-BB4D-F1EC833BC8E6}tf22712842_win32</Template>
  <TotalTime>182</TotalTime>
  <Words>205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Bookman Old Style</vt:lpstr>
      <vt:lpstr>Calibri</vt:lpstr>
      <vt:lpstr>Franklin Gothic Book</vt:lpstr>
      <vt:lpstr>Custom</vt:lpstr>
      <vt:lpstr>Reservoir Insights Unlock</vt:lpstr>
      <vt:lpstr>Today</vt:lpstr>
      <vt:lpstr>1. Objective</vt:lpstr>
      <vt:lpstr>2. Data Analysis Approach </vt:lpstr>
      <vt:lpstr>2. Data Analysis Approach </vt:lpstr>
      <vt:lpstr>3. Results and Key Insights</vt:lpstr>
      <vt:lpstr>4. Data Science Techniques</vt:lpstr>
      <vt:lpstr>5.  Use of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Yacobellis</dc:creator>
  <cp:lastModifiedBy>Paul Yacobellis</cp:lastModifiedBy>
  <cp:revision>1</cp:revision>
  <dcterms:created xsi:type="dcterms:W3CDTF">2026-01-30T20:03:33Z</dcterms:created>
  <dcterms:modified xsi:type="dcterms:W3CDTF">2026-01-30T23:05:50Z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